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9" r:id="rId1"/>
  </p:sldMasterIdLst>
  <p:sldIdLst>
    <p:sldId id="256" r:id="rId2"/>
    <p:sldId id="258" r:id="rId3"/>
    <p:sldId id="257" r:id="rId4"/>
    <p:sldId id="272" r:id="rId5"/>
    <p:sldId id="263" r:id="rId6"/>
    <p:sldId id="267" r:id="rId7"/>
    <p:sldId id="262" r:id="rId8"/>
    <p:sldId id="259" r:id="rId9"/>
    <p:sldId id="260" r:id="rId10"/>
    <p:sldId id="261" r:id="rId11"/>
    <p:sldId id="268" r:id="rId12"/>
    <p:sldId id="270" r:id="rId13"/>
    <p:sldId id="271" r:id="rId14"/>
    <p:sldId id="269" r:id="rId15"/>
    <p:sldId id="265" r:id="rId16"/>
    <p:sldId id="26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50" d="100"/>
          <a:sy n="150" d="100"/>
        </p:scale>
        <p:origin x="702"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doughnutChart>
        <c:varyColors val="1"/>
        <c:dLbls>
          <c:showLegendKey val="0"/>
          <c:showVal val="0"/>
          <c:showCatName val="0"/>
          <c:showSerName val="0"/>
          <c:showPercent val="0"/>
          <c:showBubbleSize val="0"/>
          <c:showLeaderLines val="0"/>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5.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4" name="chart">
          <a:extLst xmlns:a="http://schemas.openxmlformats.org/drawingml/2006/main">
            <a:ext uri="{FF2B5EF4-FFF2-40B4-BE49-F238E27FC236}">
              <a16:creationId xmlns:a16="http://schemas.microsoft.com/office/drawing/2014/main" id="{E1AABD9B-9B24-349D-0EBE-94BD160E114F}"/>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7658100" cy="4649299"/>
        </a:xfrm>
        <a:prstGeom xmlns:a="http://schemas.openxmlformats.org/drawingml/2006/main" prst="rect">
          <a:avLst/>
        </a:prstGeom>
      </cdr:spPr>
    </cdr:pic>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BFA4BD-2A09-487D-B7DA-0EE47FE51703}"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BC2CD6C-5588-411D-8983-431DC1E1B985}" type="slidenum">
              <a:rPr lang="en-US" smtClean="0"/>
              <a:t>‹#›</a:t>
            </a:fld>
            <a:endParaRPr lang="en-US" dirty="0"/>
          </a:p>
        </p:txBody>
      </p:sp>
    </p:spTree>
    <p:extLst>
      <p:ext uri="{BB962C8B-B14F-4D97-AF65-F5344CB8AC3E}">
        <p14:creationId xmlns:p14="http://schemas.microsoft.com/office/powerpoint/2010/main" val="3500757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BFA4BD-2A09-487D-B7DA-0EE47FE51703}"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BC2CD6C-5588-411D-8983-431DC1E1B985}" type="slidenum">
              <a:rPr lang="en-US" smtClean="0"/>
              <a:t>‹#›</a:t>
            </a:fld>
            <a:endParaRPr lang="en-US" dirty="0"/>
          </a:p>
        </p:txBody>
      </p:sp>
    </p:spTree>
    <p:extLst>
      <p:ext uri="{BB962C8B-B14F-4D97-AF65-F5344CB8AC3E}">
        <p14:creationId xmlns:p14="http://schemas.microsoft.com/office/powerpoint/2010/main" val="2464151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BFA4BD-2A09-487D-B7DA-0EE47FE51703}"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BC2CD6C-5588-411D-8983-431DC1E1B985}" type="slidenum">
              <a:rPr lang="en-US" smtClean="0"/>
              <a:t>‹#›</a:t>
            </a:fld>
            <a:endParaRPr lang="en-US" dirty="0"/>
          </a:p>
        </p:txBody>
      </p:sp>
    </p:spTree>
    <p:extLst>
      <p:ext uri="{BB962C8B-B14F-4D97-AF65-F5344CB8AC3E}">
        <p14:creationId xmlns:p14="http://schemas.microsoft.com/office/powerpoint/2010/main" val="3083189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BFA4BD-2A09-487D-B7DA-0EE47FE51703}" type="datetimeFigureOut">
              <a:rPr lang="en-US" smtClean="0"/>
              <a:t>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BC2CD6C-5588-411D-8983-431DC1E1B985}" type="slidenum">
              <a:rPr lang="en-US" smtClean="0"/>
              <a:t>‹#›</a:t>
            </a:fld>
            <a:endParaRPr lang="en-US" dirty="0"/>
          </a:p>
        </p:txBody>
      </p:sp>
    </p:spTree>
    <p:extLst>
      <p:ext uri="{BB962C8B-B14F-4D97-AF65-F5344CB8AC3E}">
        <p14:creationId xmlns:p14="http://schemas.microsoft.com/office/powerpoint/2010/main" val="24458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BFA4BD-2A09-487D-B7DA-0EE47FE51703}" type="datetimeFigureOut">
              <a:rPr lang="en-US" smtClean="0"/>
              <a:t>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BC2CD6C-5588-411D-8983-431DC1E1B985}" type="slidenum">
              <a:rPr lang="en-US" smtClean="0"/>
              <a:t>‹#›</a:t>
            </a:fld>
            <a:endParaRPr lang="en-US" dirty="0"/>
          </a:p>
        </p:txBody>
      </p:sp>
    </p:spTree>
    <p:extLst>
      <p:ext uri="{BB962C8B-B14F-4D97-AF65-F5344CB8AC3E}">
        <p14:creationId xmlns:p14="http://schemas.microsoft.com/office/powerpoint/2010/main" val="3346111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BFA4BD-2A09-487D-B7DA-0EE47FE51703}" type="datetimeFigureOut">
              <a:rPr lang="en-US" smtClean="0"/>
              <a:t>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BC2CD6C-5588-411D-8983-431DC1E1B985}" type="slidenum">
              <a:rPr lang="en-US" smtClean="0"/>
              <a:t>‹#›</a:t>
            </a:fld>
            <a:endParaRPr lang="en-US" dirty="0"/>
          </a:p>
        </p:txBody>
      </p:sp>
    </p:spTree>
    <p:extLst>
      <p:ext uri="{BB962C8B-B14F-4D97-AF65-F5344CB8AC3E}">
        <p14:creationId xmlns:p14="http://schemas.microsoft.com/office/powerpoint/2010/main" val="115068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BFA4BD-2A09-487D-B7DA-0EE47FE51703}" type="datetimeFigureOut">
              <a:rPr lang="en-US" smtClean="0"/>
              <a:t>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BC2CD6C-5588-411D-8983-431DC1E1B985}" type="slidenum">
              <a:rPr lang="en-US" smtClean="0"/>
              <a:t>‹#›</a:t>
            </a:fld>
            <a:endParaRPr lang="en-US" dirty="0"/>
          </a:p>
        </p:txBody>
      </p:sp>
    </p:spTree>
    <p:extLst>
      <p:ext uri="{BB962C8B-B14F-4D97-AF65-F5344CB8AC3E}">
        <p14:creationId xmlns:p14="http://schemas.microsoft.com/office/powerpoint/2010/main" val="1564371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BFA4BD-2A09-487D-B7DA-0EE47FE51703}" type="datetimeFigureOut">
              <a:rPr lang="en-US" smtClean="0"/>
              <a:t>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BC2CD6C-5588-411D-8983-431DC1E1B985}" type="slidenum">
              <a:rPr lang="en-US" smtClean="0"/>
              <a:t>‹#›</a:t>
            </a:fld>
            <a:endParaRPr lang="en-US" dirty="0"/>
          </a:p>
        </p:txBody>
      </p:sp>
    </p:spTree>
    <p:extLst>
      <p:ext uri="{BB962C8B-B14F-4D97-AF65-F5344CB8AC3E}">
        <p14:creationId xmlns:p14="http://schemas.microsoft.com/office/powerpoint/2010/main" val="1938825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BFA4BD-2A09-487D-B7DA-0EE47FE51703}" type="datetimeFigureOut">
              <a:rPr lang="en-US" smtClean="0"/>
              <a:t>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BC2CD6C-5588-411D-8983-431DC1E1B985}" type="slidenum">
              <a:rPr lang="en-US" smtClean="0"/>
              <a:t>‹#›</a:t>
            </a:fld>
            <a:endParaRPr lang="en-US" dirty="0"/>
          </a:p>
        </p:txBody>
      </p:sp>
    </p:spTree>
    <p:extLst>
      <p:ext uri="{BB962C8B-B14F-4D97-AF65-F5344CB8AC3E}">
        <p14:creationId xmlns:p14="http://schemas.microsoft.com/office/powerpoint/2010/main" val="2288210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BFA4BD-2A09-487D-B7DA-0EE47FE51703}"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BC2CD6C-5588-411D-8983-431DC1E1B985}" type="slidenum">
              <a:rPr lang="en-US" smtClean="0"/>
              <a:t>‹#›</a:t>
            </a:fld>
            <a:endParaRPr lang="en-US" dirty="0"/>
          </a:p>
        </p:txBody>
      </p:sp>
    </p:spTree>
    <p:extLst>
      <p:ext uri="{BB962C8B-B14F-4D97-AF65-F5344CB8AC3E}">
        <p14:creationId xmlns:p14="http://schemas.microsoft.com/office/powerpoint/2010/main" val="4219772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BFA4BD-2A09-487D-B7DA-0EE47FE51703}"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BC2CD6C-5588-411D-8983-431DC1E1B985}" type="slidenum">
              <a:rPr lang="en-US" smtClean="0"/>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261515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BFA4BD-2A09-487D-B7DA-0EE47FE51703}"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BC2CD6C-5588-411D-8983-431DC1E1B985}" type="slidenum">
              <a:rPr lang="en-US" smtClean="0"/>
              <a:t>‹#›</a:t>
            </a:fld>
            <a:endParaRPr lang="en-US" dirty="0"/>
          </a:p>
        </p:txBody>
      </p:sp>
    </p:spTree>
    <p:extLst>
      <p:ext uri="{BB962C8B-B14F-4D97-AF65-F5344CB8AC3E}">
        <p14:creationId xmlns:p14="http://schemas.microsoft.com/office/powerpoint/2010/main" val="14646882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BFA4BD-2A09-487D-B7DA-0EE47FE51703}"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BC2CD6C-5588-411D-8983-431DC1E1B985}"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430070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BFA4BD-2A09-487D-B7DA-0EE47FE51703}"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BC2CD6C-5588-411D-8983-431DC1E1B985}" type="slidenum">
              <a:rPr lang="en-US" smtClean="0"/>
              <a:t>‹#›</a:t>
            </a:fld>
            <a:endParaRPr lang="en-US" dirty="0"/>
          </a:p>
        </p:txBody>
      </p:sp>
    </p:spTree>
    <p:extLst>
      <p:ext uri="{BB962C8B-B14F-4D97-AF65-F5344CB8AC3E}">
        <p14:creationId xmlns:p14="http://schemas.microsoft.com/office/powerpoint/2010/main" val="6674454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BFA4BD-2A09-487D-B7DA-0EE47FE51703}"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BC2CD6C-5588-411D-8983-431DC1E1B985}" type="slidenum">
              <a:rPr lang="en-US" smtClean="0"/>
              <a:t>‹#›</a:t>
            </a:fld>
            <a:endParaRPr lang="en-US" dirty="0"/>
          </a:p>
        </p:txBody>
      </p:sp>
    </p:spTree>
    <p:extLst>
      <p:ext uri="{BB962C8B-B14F-4D97-AF65-F5344CB8AC3E}">
        <p14:creationId xmlns:p14="http://schemas.microsoft.com/office/powerpoint/2010/main" val="34006884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BFA4BD-2A09-487D-B7DA-0EE47FE51703}"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BC2CD6C-5588-411D-8983-431DC1E1B985}" type="slidenum">
              <a:rPr lang="en-US" smtClean="0"/>
              <a:t>‹#›</a:t>
            </a:fld>
            <a:endParaRPr lang="en-US" dirty="0"/>
          </a:p>
        </p:txBody>
      </p:sp>
    </p:spTree>
    <p:extLst>
      <p:ext uri="{BB962C8B-B14F-4D97-AF65-F5344CB8AC3E}">
        <p14:creationId xmlns:p14="http://schemas.microsoft.com/office/powerpoint/2010/main" val="4127341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BFA4BD-2A09-487D-B7DA-0EE47FE51703}" type="datetimeFigureOut">
              <a:rPr lang="en-US" smtClean="0"/>
              <a:t>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BC2CD6C-5588-411D-8983-431DC1E1B985}" type="slidenum">
              <a:rPr lang="en-US" smtClean="0"/>
              <a:t>‹#›</a:t>
            </a:fld>
            <a:endParaRPr lang="en-US" dirty="0"/>
          </a:p>
        </p:txBody>
      </p:sp>
    </p:spTree>
    <p:extLst>
      <p:ext uri="{BB962C8B-B14F-4D97-AF65-F5344CB8AC3E}">
        <p14:creationId xmlns:p14="http://schemas.microsoft.com/office/powerpoint/2010/main" val="376132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5BFA4BD-2A09-487D-B7DA-0EE47FE51703}" type="datetimeFigureOut">
              <a:rPr lang="en-US" smtClean="0"/>
              <a:t>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BC2CD6C-5588-411D-8983-431DC1E1B985}" type="slidenum">
              <a:rPr lang="en-US" smtClean="0"/>
              <a:t>‹#›</a:t>
            </a:fld>
            <a:endParaRPr lang="en-US" dirty="0"/>
          </a:p>
        </p:txBody>
      </p:sp>
    </p:spTree>
    <p:extLst>
      <p:ext uri="{BB962C8B-B14F-4D97-AF65-F5344CB8AC3E}">
        <p14:creationId xmlns:p14="http://schemas.microsoft.com/office/powerpoint/2010/main" val="1266626819"/>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 id="2147483786"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E2ED-FA61-26BB-E281-549B98C86745}"/>
              </a:ext>
            </a:extLst>
          </p:cNvPr>
          <p:cNvSpPr>
            <a:spLocks noGrp="1"/>
          </p:cNvSpPr>
          <p:nvPr>
            <p:ph type="ctr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Sudanese diaspora: </a:t>
            </a:r>
            <a:br>
              <a:rPr lang="en-US" sz="4000" dirty="0">
                <a:latin typeface="Times New Roman" panose="02020603050405020304" pitchFamily="18" charset="0"/>
                <a:cs typeface="Times New Roman" panose="02020603050405020304" pitchFamily="18" charset="0"/>
              </a:rPr>
            </a:b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Migration &amp; Settlement in the united States</a:t>
            </a:r>
            <a:endParaRPr lang="en-US" sz="4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13C16CC-CB93-D305-88BC-766D7ECE9B8D}"/>
              </a:ext>
            </a:extLst>
          </p:cNvPr>
          <p:cNvSpPr>
            <a:spLocks noGrp="1"/>
          </p:cNvSpPr>
          <p:nvPr>
            <p:ph type="subTitle" idx="1"/>
          </p:nvPr>
        </p:nvSpPr>
        <p:spPr/>
        <p:txBody>
          <a:bodyPr/>
          <a:lstStyle/>
          <a:p>
            <a:pPr algn="ctr"/>
            <a:r>
              <a:rPr lang="en-US" sz="2800" dirty="0">
                <a:latin typeface="Times New Roman" panose="02020603050405020304" pitchFamily="18" charset="0"/>
                <a:cs typeface="Times New Roman" panose="02020603050405020304" pitchFamily="18" charset="0"/>
              </a:rPr>
              <a:t>By: Meve Lako </a:t>
            </a:r>
          </a:p>
        </p:txBody>
      </p:sp>
    </p:spTree>
    <p:extLst>
      <p:ext uri="{BB962C8B-B14F-4D97-AF65-F5344CB8AC3E}">
        <p14:creationId xmlns:p14="http://schemas.microsoft.com/office/powerpoint/2010/main" val="699839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62C351-CBD6-0407-ADE8-30747A5254EA}"/>
              </a:ext>
            </a:extLst>
          </p:cNvPr>
          <p:cNvSpPr>
            <a:spLocks noGrp="1"/>
          </p:cNvSpPr>
          <p:nvPr>
            <p:ph idx="1"/>
          </p:nvPr>
        </p:nvSpPr>
        <p:spPr>
          <a:xfrm>
            <a:off x="1281363" y="1919037"/>
            <a:ext cx="6172201" cy="2598821"/>
          </a:xfrm>
        </p:spPr>
        <p:txBody>
          <a:bodyPr/>
          <a:lstStyle/>
          <a:p>
            <a:pPr marL="0" indent="0">
              <a:buNone/>
            </a:pPr>
            <a:r>
              <a:rPr lang="en-US" dirty="0"/>
              <a:t>Since the beginning of time, humans have migrated in search of safety, opportunity, and a better life. For many, this journey means leaving everything familiar behind to escape religious persecution, genocide, famine, and conflict. I come from one of these war-torn countries, and my family and I were forced to flee in search of safety and a better future.</a:t>
            </a:r>
          </a:p>
        </p:txBody>
      </p:sp>
    </p:spTree>
    <p:extLst>
      <p:ext uri="{BB962C8B-B14F-4D97-AF65-F5344CB8AC3E}">
        <p14:creationId xmlns:p14="http://schemas.microsoft.com/office/powerpoint/2010/main" val="351026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2FF4F-C287-8099-6B10-1F21BFD0B365}"/>
              </a:ext>
            </a:extLst>
          </p:cNvPr>
          <p:cNvSpPr>
            <a:spLocks noGrp="1"/>
          </p:cNvSpPr>
          <p:nvPr>
            <p:ph type="title"/>
          </p:nvPr>
        </p:nvSpPr>
        <p:spPr/>
        <p:txBody>
          <a:bodyPr/>
          <a:lstStyle/>
          <a:p>
            <a:r>
              <a:rPr lang="en-US" dirty="0"/>
              <a:t>Motivation </a:t>
            </a:r>
          </a:p>
        </p:txBody>
      </p:sp>
      <p:sp>
        <p:nvSpPr>
          <p:cNvPr id="3" name="Content Placeholder 2">
            <a:extLst>
              <a:ext uri="{FF2B5EF4-FFF2-40B4-BE49-F238E27FC236}">
                <a16:creationId xmlns:a16="http://schemas.microsoft.com/office/drawing/2014/main" id="{48D01CC8-942C-613F-B094-0F805BBA9E1F}"/>
              </a:ext>
            </a:extLst>
          </p:cNvPr>
          <p:cNvSpPr>
            <a:spLocks noGrp="1"/>
          </p:cNvSpPr>
          <p:nvPr>
            <p:ph idx="1"/>
          </p:nvPr>
        </p:nvSpPr>
        <p:spPr>
          <a:xfrm>
            <a:off x="677334" y="2160589"/>
            <a:ext cx="8045561" cy="3880773"/>
          </a:xfrm>
        </p:spPr>
        <p:txBody>
          <a:bodyPr/>
          <a:lstStyle/>
          <a:p>
            <a:r>
              <a:rPr lang="en-US" sz="1400" dirty="0">
                <a:effectLst/>
                <a:latin typeface="Aptos" panose="020B0004020202020204" pitchFamily="34" charset="0"/>
                <a:cs typeface="Times New Roman" panose="02020603050405020304" pitchFamily="18" charset="0"/>
              </a:rPr>
              <a:t>This project is personal for me. My own journey began in Sudan, moved through Egypt, and finally brought me to the U.S. I wanted to use data to see how my story fits into the larger picture of the thousands of others who have made similar journeys. </a:t>
            </a:r>
            <a:r>
              <a:rPr lang="en-US" sz="1400" dirty="0">
                <a:effectLst/>
                <a:latin typeface="Aptos" panose="020B0004020202020204" pitchFamily="34" charset="0"/>
                <a:ea typeface="Aptos" panose="020B0004020202020204" pitchFamily="34" charset="0"/>
                <a:cs typeface="Times New Roman" panose="02020603050405020304" pitchFamily="18" charset="0"/>
              </a:rPr>
              <a:t>This project examines displacement patterns from 2001 to 2024 and focuses on how many Sudanese have been displaced. I set out to answer three main questions: How many people are coming? What is their legal status? And most importantly, where are they choosing to rebuild their lives today?</a:t>
            </a:r>
            <a:endParaRPr lang="en-US" sz="1400" dirty="0"/>
          </a:p>
          <a:p>
            <a:endParaRPr lang="en-US" sz="1400" dirty="0"/>
          </a:p>
        </p:txBody>
      </p:sp>
    </p:spTree>
    <p:extLst>
      <p:ext uri="{BB962C8B-B14F-4D97-AF65-F5344CB8AC3E}">
        <p14:creationId xmlns:p14="http://schemas.microsoft.com/office/powerpoint/2010/main" val="1820146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406F6A-140C-C9D8-7042-50E4BC0D2DAE}"/>
              </a:ext>
            </a:extLst>
          </p:cNvPr>
          <p:cNvPicPr>
            <a:picLocks noChangeAspect="1"/>
          </p:cNvPicPr>
          <p:nvPr/>
        </p:nvPicPr>
        <p:blipFill>
          <a:blip r:embed="rId2"/>
          <a:stretch>
            <a:fillRect/>
          </a:stretch>
        </p:blipFill>
        <p:spPr>
          <a:xfrm>
            <a:off x="1334277" y="171485"/>
            <a:ext cx="6568751" cy="6272433"/>
          </a:xfrm>
          <a:prstGeom prst="rect">
            <a:avLst/>
          </a:prstGeom>
        </p:spPr>
      </p:pic>
    </p:spTree>
    <p:extLst>
      <p:ext uri="{BB962C8B-B14F-4D97-AF65-F5344CB8AC3E}">
        <p14:creationId xmlns:p14="http://schemas.microsoft.com/office/powerpoint/2010/main" val="853742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04DB279-60D0-92AC-D372-20F057EC6247}"/>
              </a:ext>
            </a:extLst>
          </p:cNvPr>
          <p:cNvSpPr>
            <a:spLocks noGrp="1"/>
          </p:cNvSpPr>
          <p:nvPr>
            <p:ph type="body" sz="half" idx="2"/>
          </p:nvPr>
        </p:nvSpPr>
        <p:spPr>
          <a:xfrm>
            <a:off x="627690" y="5630249"/>
            <a:ext cx="8790704" cy="527956"/>
          </a:xfrm>
        </p:spPr>
        <p:txBody>
          <a:bodyPr>
            <a:normAutofit fontScale="92500" lnSpcReduction="20000"/>
          </a:bodyPr>
          <a:lstStyle/>
          <a:p>
            <a:r>
              <a:rPr lang="en-US" dirty="0"/>
              <a:t>When we look at this graph, we see that migration is never a straight </a:t>
            </a:r>
            <a:r>
              <a:rPr lang="en-US" dirty="0" err="1"/>
              <a:t>line.It</a:t>
            </a:r>
            <a:r>
              <a:rPr lang="en-US" dirty="0"/>
              <a:t> happens in </a:t>
            </a:r>
            <a:r>
              <a:rPr lang="en-US" b="1" dirty="0"/>
              <a:t> waves.</a:t>
            </a:r>
            <a:endParaRPr lang="en-US" dirty="0"/>
          </a:p>
        </p:txBody>
      </p:sp>
      <p:pic>
        <p:nvPicPr>
          <p:cNvPr id="10" name="Picture 9">
            <a:extLst>
              <a:ext uri="{FF2B5EF4-FFF2-40B4-BE49-F238E27FC236}">
                <a16:creationId xmlns:a16="http://schemas.microsoft.com/office/drawing/2014/main" id="{8BAEB06C-75AD-06F1-6863-C8442E073FD2}"/>
              </a:ext>
            </a:extLst>
          </p:cNvPr>
          <p:cNvPicPr>
            <a:picLocks noChangeAspect="1"/>
          </p:cNvPicPr>
          <p:nvPr/>
        </p:nvPicPr>
        <p:blipFill>
          <a:blip r:embed="rId2"/>
          <a:stretch>
            <a:fillRect/>
          </a:stretch>
        </p:blipFill>
        <p:spPr>
          <a:xfrm>
            <a:off x="515722" y="408637"/>
            <a:ext cx="9010833" cy="4892857"/>
          </a:xfrm>
          <a:prstGeom prst="rect">
            <a:avLst/>
          </a:prstGeom>
        </p:spPr>
      </p:pic>
    </p:spTree>
    <p:extLst>
      <p:ext uri="{BB962C8B-B14F-4D97-AF65-F5344CB8AC3E}">
        <p14:creationId xmlns:p14="http://schemas.microsoft.com/office/powerpoint/2010/main" val="1131240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B626849-8C1C-036A-882D-2448B0A56D6C}"/>
              </a:ext>
            </a:extLst>
          </p:cNvPr>
          <p:cNvPicPr>
            <a:picLocks noChangeAspect="1"/>
          </p:cNvPicPr>
          <p:nvPr/>
        </p:nvPicPr>
        <p:blipFill>
          <a:blip r:embed="rId2"/>
          <a:stretch>
            <a:fillRect/>
          </a:stretch>
        </p:blipFill>
        <p:spPr>
          <a:xfrm>
            <a:off x="1870766" y="806450"/>
            <a:ext cx="5163970" cy="4385120"/>
          </a:xfrm>
          <a:prstGeom prst="rect">
            <a:avLst/>
          </a:prstGeom>
        </p:spPr>
      </p:pic>
    </p:spTree>
    <p:extLst>
      <p:ext uri="{BB962C8B-B14F-4D97-AF65-F5344CB8AC3E}">
        <p14:creationId xmlns:p14="http://schemas.microsoft.com/office/powerpoint/2010/main" val="198395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9953207-4BBD-C2E8-60E1-A45B0C4C933C}"/>
              </a:ext>
            </a:extLst>
          </p:cNvPr>
          <p:cNvSpPr>
            <a:spLocks noGrp="1"/>
          </p:cNvSpPr>
          <p:nvPr>
            <p:ph type="body" sz="half" idx="2"/>
          </p:nvPr>
        </p:nvSpPr>
        <p:spPr>
          <a:xfrm>
            <a:off x="553536" y="5432096"/>
            <a:ext cx="9904505" cy="1140644"/>
          </a:xfrm>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Although Sudan compared to its neighbors is very small, its represents 46,000 people</a:t>
            </a:r>
            <a:r>
              <a:rPr lang="en-US" dirty="0"/>
              <a:t>. </a:t>
            </a:r>
          </a:p>
        </p:txBody>
      </p:sp>
      <p:pic>
        <p:nvPicPr>
          <p:cNvPr id="11" name="Picture 10">
            <a:extLst>
              <a:ext uri="{FF2B5EF4-FFF2-40B4-BE49-F238E27FC236}">
                <a16:creationId xmlns:a16="http://schemas.microsoft.com/office/drawing/2014/main" id="{460A9F0D-DE8C-2312-C80C-E70C9C606A9B}"/>
              </a:ext>
            </a:extLst>
          </p:cNvPr>
          <p:cNvPicPr>
            <a:picLocks noChangeAspect="1"/>
          </p:cNvPicPr>
          <p:nvPr/>
        </p:nvPicPr>
        <p:blipFill>
          <a:blip r:embed="rId2"/>
          <a:stretch>
            <a:fillRect/>
          </a:stretch>
        </p:blipFill>
        <p:spPr>
          <a:xfrm>
            <a:off x="781490" y="739314"/>
            <a:ext cx="8670420" cy="4411184"/>
          </a:xfrm>
          <a:prstGeom prst="rect">
            <a:avLst/>
          </a:prstGeom>
        </p:spPr>
      </p:pic>
    </p:spTree>
    <p:extLst>
      <p:ext uri="{BB962C8B-B14F-4D97-AF65-F5344CB8AC3E}">
        <p14:creationId xmlns:p14="http://schemas.microsoft.com/office/powerpoint/2010/main" val="952587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9D7E0DD-67ED-7AB9-B706-DD9E89225943}"/>
              </a:ext>
            </a:extLst>
          </p:cNvPr>
          <p:cNvSpPr>
            <a:spLocks noGrp="1"/>
          </p:cNvSpPr>
          <p:nvPr>
            <p:ph type="body" sz="half" idx="2"/>
          </p:nvPr>
        </p:nvSpPr>
        <p:spPr>
          <a:xfrm>
            <a:off x="960234" y="5573160"/>
            <a:ext cx="7774036" cy="479829"/>
          </a:xfrm>
        </p:spPr>
        <p:txBody>
          <a:bodyPr>
            <a:normAutofit fontScale="85000" lnSpcReduction="20000"/>
          </a:bodyPr>
          <a:lstStyle/>
          <a:p>
            <a:r>
              <a:rPr lang="en-US" dirty="0"/>
              <a:t>From this map view, Texas, Tennessee, Virginia, and New York are the leading states for entering settlers. </a:t>
            </a:r>
          </a:p>
        </p:txBody>
      </p:sp>
      <p:graphicFrame>
        <p:nvGraphicFramePr>
          <p:cNvPr id="11" name="Content Placeholder 5">
            <a:extLst>
              <a:ext uri="{FF2B5EF4-FFF2-40B4-BE49-F238E27FC236}">
                <a16:creationId xmlns:a16="http://schemas.microsoft.com/office/drawing/2014/main" id="{9382892C-5352-0599-17D0-A80C202C9F1E}"/>
              </a:ext>
            </a:extLst>
          </p:cNvPr>
          <p:cNvGraphicFramePr>
            <a:graphicFrameLocks/>
          </p:cNvGraphicFramePr>
          <p:nvPr>
            <p:extLst>
              <p:ext uri="{D42A27DB-BD31-4B8C-83A1-F6EECF244321}">
                <p14:modId xmlns:p14="http://schemas.microsoft.com/office/powerpoint/2010/main" val="3810468638"/>
              </p:ext>
            </p:extLst>
          </p:nvPr>
        </p:nvGraphicFramePr>
        <p:xfrm>
          <a:off x="742951" y="615950"/>
          <a:ext cx="7658100" cy="464929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51657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5046049-E628-A355-151D-FD4AB833EB44}"/>
              </a:ext>
            </a:extLst>
          </p:cNvPr>
          <p:cNvSpPr>
            <a:spLocks noGrp="1"/>
          </p:cNvSpPr>
          <p:nvPr>
            <p:ph type="body" sz="half" idx="2"/>
          </p:nvPr>
        </p:nvSpPr>
        <p:spPr>
          <a:xfrm>
            <a:off x="-2419983" y="452618"/>
            <a:ext cx="9904505" cy="1370166"/>
          </a:xfrm>
        </p:spPr>
        <p:txBody>
          <a:bodyPr/>
          <a:lstStyle/>
          <a:p>
            <a:pPr algn="ctr"/>
            <a:r>
              <a:rPr lang="en-US" b="1" dirty="0"/>
              <a:t>Top 5 Counties of Sudanese settlers</a:t>
            </a:r>
          </a:p>
        </p:txBody>
      </p:sp>
      <p:pic>
        <p:nvPicPr>
          <p:cNvPr id="9" name="Picture 8">
            <a:extLst>
              <a:ext uri="{FF2B5EF4-FFF2-40B4-BE49-F238E27FC236}">
                <a16:creationId xmlns:a16="http://schemas.microsoft.com/office/drawing/2014/main" id="{78FA6682-EE5D-3B23-43E3-604BBF4614AD}"/>
              </a:ext>
            </a:extLst>
          </p:cNvPr>
          <p:cNvPicPr>
            <a:picLocks noChangeAspect="1"/>
          </p:cNvPicPr>
          <p:nvPr/>
        </p:nvPicPr>
        <p:blipFill>
          <a:blip r:embed="rId2"/>
          <a:stretch>
            <a:fillRect/>
          </a:stretch>
        </p:blipFill>
        <p:spPr>
          <a:xfrm>
            <a:off x="1781034" y="1487511"/>
            <a:ext cx="6392488" cy="4176988"/>
          </a:xfrm>
          <a:prstGeom prst="rect">
            <a:avLst/>
          </a:prstGeom>
        </p:spPr>
      </p:pic>
    </p:spTree>
    <p:extLst>
      <p:ext uri="{BB962C8B-B14F-4D97-AF65-F5344CB8AC3E}">
        <p14:creationId xmlns:p14="http://schemas.microsoft.com/office/powerpoint/2010/main" val="772593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53BFC10-9002-718F-E646-85E06CBF2226}"/>
              </a:ext>
            </a:extLst>
          </p:cNvPr>
          <p:cNvSpPr>
            <a:spLocks noGrp="1"/>
          </p:cNvSpPr>
          <p:nvPr>
            <p:ph type="body" sz="half" idx="2"/>
          </p:nvPr>
        </p:nvSpPr>
        <p:spPr>
          <a:xfrm>
            <a:off x="861138" y="5355641"/>
            <a:ext cx="7245958" cy="755779"/>
          </a:xfrm>
        </p:spPr>
        <p:txBody>
          <a:bodyPr>
            <a:normAutofit/>
          </a:bodyPr>
          <a:lstStyle/>
          <a:p>
            <a:pPr algn="ctr"/>
            <a:r>
              <a:rPr lang="en-US" b="1" dirty="0"/>
              <a:t>Virginia, Texas, and New York</a:t>
            </a:r>
            <a:r>
              <a:rPr lang="en-US" dirty="0"/>
              <a:t> are the leading states as per the Census. This could be due to 2</a:t>
            </a:r>
            <a:r>
              <a:rPr lang="en-US" baseline="30000" dirty="0"/>
              <a:t>nd</a:t>
            </a:r>
            <a:r>
              <a:rPr lang="en-US" dirty="0"/>
              <a:t> resettlement. </a:t>
            </a:r>
          </a:p>
        </p:txBody>
      </p:sp>
      <p:pic>
        <p:nvPicPr>
          <p:cNvPr id="9" name="Picture 8">
            <a:extLst>
              <a:ext uri="{FF2B5EF4-FFF2-40B4-BE49-F238E27FC236}">
                <a16:creationId xmlns:a16="http://schemas.microsoft.com/office/drawing/2014/main" id="{F57B764D-60BA-56B6-CB08-08957309B99C}"/>
              </a:ext>
            </a:extLst>
          </p:cNvPr>
          <p:cNvPicPr>
            <a:picLocks noChangeAspect="1"/>
          </p:cNvPicPr>
          <p:nvPr/>
        </p:nvPicPr>
        <p:blipFill>
          <a:blip r:embed="rId2"/>
          <a:stretch>
            <a:fillRect/>
          </a:stretch>
        </p:blipFill>
        <p:spPr>
          <a:xfrm>
            <a:off x="1028700" y="746580"/>
            <a:ext cx="7200666" cy="3940048"/>
          </a:xfrm>
          <a:prstGeom prst="rect">
            <a:avLst/>
          </a:prstGeom>
        </p:spPr>
      </p:pic>
    </p:spTree>
    <p:extLst>
      <p:ext uri="{BB962C8B-B14F-4D97-AF65-F5344CB8AC3E}">
        <p14:creationId xmlns:p14="http://schemas.microsoft.com/office/powerpoint/2010/main" val="3660327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D8610D-0063-1301-0933-3FB27A61CB25}"/>
              </a:ext>
            </a:extLst>
          </p:cNvPr>
          <p:cNvSpPr>
            <a:spLocks noGrp="1"/>
          </p:cNvSpPr>
          <p:nvPr>
            <p:ph type="title"/>
          </p:nvPr>
        </p:nvSpPr>
        <p:spPr/>
        <p:txBody>
          <a:bodyPr/>
          <a:lstStyle/>
          <a:p>
            <a:r>
              <a:rPr lang="en-US" dirty="0"/>
              <a:t>Reasons for possible settlement:</a:t>
            </a:r>
          </a:p>
        </p:txBody>
      </p:sp>
      <p:sp>
        <p:nvSpPr>
          <p:cNvPr id="5" name="Content Placeholder 4">
            <a:extLst>
              <a:ext uri="{FF2B5EF4-FFF2-40B4-BE49-F238E27FC236}">
                <a16:creationId xmlns:a16="http://schemas.microsoft.com/office/drawing/2014/main" id="{9CD48780-986B-4ADA-51DB-A96BD5007D2C}"/>
              </a:ext>
            </a:extLst>
          </p:cNvPr>
          <p:cNvSpPr>
            <a:spLocks noGrp="1"/>
          </p:cNvSpPr>
          <p:nvPr>
            <p:ph idx="1"/>
          </p:nvPr>
        </p:nvSpPr>
        <p:spPr/>
        <p:txBody>
          <a:bodyPr/>
          <a:lstStyle/>
          <a:p>
            <a:r>
              <a:rPr lang="en-US" dirty="0"/>
              <a:t>After reaching their entry points, many families often resettle. Some within the first year, moving to areas that have more manufacturing jobs, affordable housing, cultural resources, strong social support, and often climate familiarity. </a:t>
            </a:r>
          </a:p>
        </p:txBody>
      </p:sp>
    </p:spTree>
    <p:extLst>
      <p:ext uri="{BB962C8B-B14F-4D97-AF65-F5344CB8AC3E}">
        <p14:creationId xmlns:p14="http://schemas.microsoft.com/office/powerpoint/2010/main" val="2803300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185DA-AA50-4297-C650-1C0FAFA46AF1}"/>
              </a:ext>
            </a:extLst>
          </p:cNvPr>
          <p:cNvSpPr>
            <a:spLocks noGrp="1"/>
          </p:cNvSpPr>
          <p:nvPr>
            <p:ph type="title"/>
          </p:nvPr>
        </p:nvSpPr>
        <p:spPr>
          <a:xfrm>
            <a:off x="677334" y="609600"/>
            <a:ext cx="8596668" cy="827314"/>
          </a:xfrm>
        </p:spPr>
        <p:txBody>
          <a:bodyPr/>
          <a:lstStyle/>
          <a:p>
            <a:r>
              <a:rPr lang="en-US" dirty="0"/>
              <a:t>Who is being admitted(UNHCR)?</a:t>
            </a:r>
          </a:p>
        </p:txBody>
      </p:sp>
      <p:pic>
        <p:nvPicPr>
          <p:cNvPr id="5" name="Picture 4">
            <a:extLst>
              <a:ext uri="{FF2B5EF4-FFF2-40B4-BE49-F238E27FC236}">
                <a16:creationId xmlns:a16="http://schemas.microsoft.com/office/drawing/2014/main" id="{AD540EEC-0FB9-B4C9-DA4F-A801E51A1BC7}"/>
              </a:ext>
            </a:extLst>
          </p:cNvPr>
          <p:cNvPicPr>
            <a:picLocks noChangeAspect="1"/>
          </p:cNvPicPr>
          <p:nvPr/>
        </p:nvPicPr>
        <p:blipFill>
          <a:blip r:embed="rId2"/>
          <a:stretch>
            <a:fillRect/>
          </a:stretch>
        </p:blipFill>
        <p:spPr>
          <a:xfrm>
            <a:off x="1445252" y="1631949"/>
            <a:ext cx="6272977" cy="3728227"/>
          </a:xfrm>
          <a:prstGeom prst="rect">
            <a:avLst/>
          </a:prstGeom>
        </p:spPr>
      </p:pic>
    </p:spTree>
    <p:extLst>
      <p:ext uri="{BB962C8B-B14F-4D97-AF65-F5344CB8AC3E}">
        <p14:creationId xmlns:p14="http://schemas.microsoft.com/office/powerpoint/2010/main" val="2460349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404D3-4D60-8E0F-DAFF-C749F3EC5052}"/>
              </a:ext>
            </a:extLst>
          </p:cNvPr>
          <p:cNvSpPr>
            <a:spLocks noGrp="1"/>
          </p:cNvSpPr>
          <p:nvPr>
            <p:ph type="title"/>
          </p:nvPr>
        </p:nvSpPr>
        <p:spPr/>
        <p:txBody>
          <a:bodyPr/>
          <a:lstStyle/>
          <a:p>
            <a:r>
              <a:rPr lang="en-US" dirty="0"/>
              <a:t>Why is it that there is a larger number of females to males. </a:t>
            </a:r>
          </a:p>
        </p:txBody>
      </p:sp>
      <p:sp>
        <p:nvSpPr>
          <p:cNvPr id="3" name="Content Placeholder 2">
            <a:extLst>
              <a:ext uri="{FF2B5EF4-FFF2-40B4-BE49-F238E27FC236}">
                <a16:creationId xmlns:a16="http://schemas.microsoft.com/office/drawing/2014/main" id="{C394383F-EE6F-81F9-58E3-47F9A81E2260}"/>
              </a:ext>
            </a:extLst>
          </p:cNvPr>
          <p:cNvSpPr>
            <a:spLocks noGrp="1"/>
          </p:cNvSpPr>
          <p:nvPr>
            <p:ph idx="1"/>
          </p:nvPr>
        </p:nvSpPr>
        <p:spPr/>
        <p:txBody>
          <a:bodyPr/>
          <a:lstStyle/>
          <a:p>
            <a:r>
              <a:rPr lang="en-US" dirty="0"/>
              <a:t>Majority of Sudan and South Sudan armed forced are made up of men. Most of the women serve in logistics, medical, of signal roles. So that leaves the men to fight in the frontlines. </a:t>
            </a:r>
          </a:p>
          <a:p>
            <a:r>
              <a:rPr lang="en-US" dirty="0"/>
              <a:t>Males young and old are targeted to eliminate potential resistance, while females are more are more subject to sexual violence.</a:t>
            </a:r>
          </a:p>
          <a:p>
            <a:r>
              <a:rPr lang="en-US" dirty="0"/>
              <a:t>Which may be the reason to why you see more migration of females, or families with just the mother. </a:t>
            </a:r>
          </a:p>
          <a:p>
            <a:endParaRPr lang="en-US" dirty="0"/>
          </a:p>
        </p:txBody>
      </p:sp>
    </p:spTree>
    <p:extLst>
      <p:ext uri="{BB962C8B-B14F-4D97-AF65-F5344CB8AC3E}">
        <p14:creationId xmlns:p14="http://schemas.microsoft.com/office/powerpoint/2010/main" val="3428668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C037E1-F1E3-A639-FED5-A13B86D33028}"/>
              </a:ext>
            </a:extLst>
          </p:cNvPr>
          <p:cNvSpPr>
            <a:spLocks noGrp="1"/>
          </p:cNvSpPr>
          <p:nvPr>
            <p:ph type="title"/>
          </p:nvPr>
        </p:nvSpPr>
        <p:spPr>
          <a:xfrm>
            <a:off x="677334" y="609600"/>
            <a:ext cx="8596668" cy="808653"/>
          </a:xfrm>
        </p:spPr>
        <p:txBody>
          <a:bodyPr/>
          <a:lstStyle/>
          <a:p>
            <a:r>
              <a:rPr lang="en-US" dirty="0"/>
              <a:t>What is their gender makeup?</a:t>
            </a:r>
          </a:p>
        </p:txBody>
      </p:sp>
      <p:pic>
        <p:nvPicPr>
          <p:cNvPr id="20" name="Picture 19">
            <a:extLst>
              <a:ext uri="{FF2B5EF4-FFF2-40B4-BE49-F238E27FC236}">
                <a16:creationId xmlns:a16="http://schemas.microsoft.com/office/drawing/2014/main" id="{8E13F4BD-8E26-1283-512D-0355430579F9}"/>
              </a:ext>
            </a:extLst>
          </p:cNvPr>
          <p:cNvPicPr>
            <a:picLocks noChangeAspect="1"/>
          </p:cNvPicPr>
          <p:nvPr/>
        </p:nvPicPr>
        <p:blipFill>
          <a:blip r:embed="rId2"/>
          <a:stretch>
            <a:fillRect/>
          </a:stretch>
        </p:blipFill>
        <p:spPr>
          <a:xfrm>
            <a:off x="1790772" y="1720849"/>
            <a:ext cx="5306713" cy="3886977"/>
          </a:xfrm>
          <a:prstGeom prst="rect">
            <a:avLst/>
          </a:prstGeom>
        </p:spPr>
      </p:pic>
    </p:spTree>
    <p:extLst>
      <p:ext uri="{BB962C8B-B14F-4D97-AF65-F5344CB8AC3E}">
        <p14:creationId xmlns:p14="http://schemas.microsoft.com/office/powerpoint/2010/main" val="2208241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845C1-3742-A24A-6CEC-FCBA6FA7956D}"/>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7B20D092-1891-9173-D118-7EE537A970E0}"/>
              </a:ext>
            </a:extLst>
          </p:cNvPr>
          <p:cNvSpPr>
            <a:spLocks noGrp="1"/>
          </p:cNvSpPr>
          <p:nvPr>
            <p:ph idx="1"/>
          </p:nvPr>
        </p:nvSpPr>
        <p:spPr/>
        <p:txBody>
          <a:bodyPr>
            <a:normAutofit/>
          </a:bodyPr>
          <a:lstStyle/>
          <a:p>
            <a:r>
              <a:rPr lang="en-US" dirty="0"/>
              <a:t>This project analyzes the displacement and resettlement of Sudanese communities in the United States from 2001 to 2024. Inspired by my own journey from Sudan to Egypt and then to the U.S., it examines why people flee and where they settle, highlighting major hubs in Virginia, Texas, and New York.</a:t>
            </a:r>
          </a:p>
          <a:p>
            <a:r>
              <a:rPr lang="en-US" dirty="0"/>
              <a:t>Next Steps: Future research will focus on tracking Sudanese movement through Egypt transit route and studying secondary migration within the United States to places like Omaha, Nebraska, Des Moines Iowa, &amp; Nashville, Tennessee. </a:t>
            </a:r>
          </a:p>
        </p:txBody>
      </p:sp>
    </p:spTree>
    <p:extLst>
      <p:ext uri="{BB962C8B-B14F-4D97-AF65-F5344CB8AC3E}">
        <p14:creationId xmlns:p14="http://schemas.microsoft.com/office/powerpoint/2010/main" val="2507105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17F74-D053-E07C-4E0D-F9D7020301C8}"/>
              </a:ext>
            </a:extLst>
          </p:cNvPr>
          <p:cNvSpPr>
            <a:spLocks noGrp="1"/>
          </p:cNvSpPr>
          <p:nvPr>
            <p:ph type="title"/>
          </p:nvPr>
        </p:nvSpPr>
        <p:spPr/>
        <p:txBody>
          <a:bodyPr/>
          <a:lstStyle/>
          <a:p>
            <a:r>
              <a:rPr lang="en-US" dirty="0"/>
              <a:t>Q&amp;A</a:t>
            </a:r>
          </a:p>
        </p:txBody>
      </p:sp>
      <p:sp>
        <p:nvSpPr>
          <p:cNvPr id="3" name="Content Placeholder 2">
            <a:extLst>
              <a:ext uri="{FF2B5EF4-FFF2-40B4-BE49-F238E27FC236}">
                <a16:creationId xmlns:a16="http://schemas.microsoft.com/office/drawing/2014/main" id="{C96D4356-A713-11E2-634D-49E54D9C2D9E}"/>
              </a:ext>
            </a:extLst>
          </p:cNvPr>
          <p:cNvSpPr>
            <a:spLocks noGrp="1"/>
          </p:cNvSpPr>
          <p:nvPr>
            <p:ph idx="1"/>
          </p:nvPr>
        </p:nvSpPr>
        <p:spPr/>
        <p:txBody>
          <a:bodyPr/>
          <a:lstStyle/>
          <a:p>
            <a:r>
              <a:rPr lang="en-US" dirty="0"/>
              <a:t>Thank you!</a:t>
            </a:r>
          </a:p>
        </p:txBody>
      </p:sp>
    </p:spTree>
    <p:extLst>
      <p:ext uri="{BB962C8B-B14F-4D97-AF65-F5344CB8AC3E}">
        <p14:creationId xmlns:p14="http://schemas.microsoft.com/office/powerpoint/2010/main" val="734324526"/>
      </p:ext>
    </p:extLst>
  </p:cSld>
  <p:clrMapOvr>
    <a:masterClrMapping/>
  </p:clrMapOvr>
</p:sld>
</file>

<file path=ppt/theme/theme1.xml><?xml version="1.0" encoding="utf-8"?>
<a:theme xmlns:a="http://schemas.openxmlformats.org/drawingml/2006/main" name="Facet">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2536</TotalTime>
  <Words>542</Words>
  <Application>Microsoft Office PowerPoint</Application>
  <PresentationFormat>Widescreen</PresentationFormat>
  <Paragraphs>23</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Times New Roman</vt:lpstr>
      <vt:lpstr>Trebuchet MS</vt:lpstr>
      <vt:lpstr>Wingdings 3</vt:lpstr>
      <vt:lpstr>Facet</vt:lpstr>
      <vt:lpstr>Sudanese diaspora:  Migration &amp; Settlement in the united States</vt:lpstr>
      <vt:lpstr>PowerPoint Presentation</vt:lpstr>
      <vt:lpstr>Motivation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Reasons for possible settlement:</vt:lpstr>
      <vt:lpstr>Who is being admitted(UNHCR)?</vt:lpstr>
      <vt:lpstr>Why is it that there is a larger number of females to males. </vt:lpstr>
      <vt:lpstr>What is their gender makeup?</vt:lpstr>
      <vt:lpstr>Summary</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Meve Lako</dc:creator>
  <cp:lastModifiedBy>Meve Lako</cp:lastModifiedBy>
  <cp:revision>6</cp:revision>
  <dcterms:created xsi:type="dcterms:W3CDTF">2026-01-05T18:48:45Z</dcterms:created>
  <dcterms:modified xsi:type="dcterms:W3CDTF">2026-01-07T13:04:58Z</dcterms:modified>
</cp:coreProperties>
</file>